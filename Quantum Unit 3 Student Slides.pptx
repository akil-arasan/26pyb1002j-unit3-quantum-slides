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students: de Broglie's idea was a hypothesis; here's the experiment that proved it. Write λ ≈ 1.67 Å (at 54 V) in a corner of the board now, so you can point back to it when Davisson-Germer measures 1.65 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50"/>
            <a:ext cx="10566400" cy="416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50"/>
            <a:ext cx="10566400" cy="416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0753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2B4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26PYB1002J · UNIT 3 · QUANTUM PHYSICS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10420"/>
            <a:ext cx="981075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F1E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When particles behave like waves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264620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Matter waves, the uncertainty principle, and the wave of probability: Lectures 3, 6 and 7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ROAD MAP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Three lectures, one 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491135"/>
            <a:ext cx="3041650" cy="1591270"/>
          </a:xfrm>
          <a:prstGeom prst="roundRect">
            <a:avLst>
              <a:gd name="adj" fmla="val 7782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748310"/>
            <a:ext cx="26031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3063230"/>
            <a:ext cx="260311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Matter has a wave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3150" y="3469630"/>
            <a:ext cx="26031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λ = h / p</a:t>
            </a:r>
            <a:endParaRPr lang="en-US" sz="20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13200" y="3185170"/>
            <a:ext cx="406400" cy="20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5175" y="2338735"/>
            <a:ext cx="3041650" cy="1896070"/>
          </a:xfrm>
          <a:prstGeom prst="roundRect">
            <a:avLst>
              <a:gd name="adj" fmla="val 6531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32350" y="2595910"/>
            <a:ext cx="26031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32350" y="2910830"/>
            <a:ext cx="260311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Waves are spread out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832350" y="3622030"/>
            <a:ext cx="26031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Δx · Δp ≥ ħ/2</a:t>
            </a:r>
            <a:endParaRPr lang="en-US" sz="20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0" y="3185170"/>
            <a:ext cx="406400" cy="20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334375" y="2338735"/>
            <a:ext cx="3041650" cy="1896070"/>
          </a:xfrm>
          <a:prstGeom prst="roundRect">
            <a:avLst>
              <a:gd name="adj" fmla="val 6531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91550" y="2595910"/>
            <a:ext cx="26031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7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591550" y="2910830"/>
            <a:ext cx="260311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wave is probability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591550" y="3622030"/>
            <a:ext cx="26031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|ψ|² and proof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12800" y="4998740"/>
            <a:ext cx="10566400" cy="1046460"/>
          </a:xfrm>
          <a:prstGeom prst="roundRect">
            <a:avLst>
              <a:gd name="adj" fmla="val 9709"/>
            </a:avLst>
          </a:prstGeom>
          <a:solidFill>
            <a:srgbClr val="EEF2F8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electron is </a:t>
            </a:r>
            <a:r>
              <a:rPr lang="en-US" sz="1800" b="1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neither a tiny ball nor a water wave</a:t>
            </a:r>
            <a:r>
              <a:rPr lang="en-US" sz="18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It is a quantum object that shows wave behaviour in some experiments and particle behaviour in others.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84090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F2B45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03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557290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4F1E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Matter waves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43101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If light can be a particle, can a particle be a wave?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3 · MATTER WAVES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Light already plays both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25"/>
            <a:ext cx="5175250" cy="1510010"/>
          </a:xfrm>
          <a:prstGeom prst="roundRect">
            <a:avLst>
              <a:gd name="adj" fmla="val 8200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399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5BD3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As a wave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546300"/>
            <a:ext cx="4800727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Interference and diffraction: light spreads, overlaps and cancels.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00775" y="1882725"/>
            <a:ext cx="5175250" cy="1510010"/>
          </a:xfrm>
          <a:prstGeom prst="roundRect">
            <a:avLst>
              <a:gd name="adj" fmla="val 8200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1399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5BD3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As a particle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57950" y="2546300"/>
            <a:ext cx="4800727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Photoelectric and Compton effects: light arrives in packets (photons).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700711"/>
            <a:ext cx="10566400" cy="1650901"/>
          </a:xfrm>
          <a:prstGeom prst="roundRect">
            <a:avLst>
              <a:gd name="adj" fmla="val 7693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1117600" y="4005511"/>
            <a:ext cx="102555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4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1924 · LOUIS DE BROGLIE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7600" y="4320431"/>
            <a:ext cx="10255504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4F1E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Nature loves symmetry, so matter should be dual too. The waves of moving particles are called </a:t>
            </a:r>
            <a:r>
              <a:rPr lang="en-US" sz="2200" b="1" dirty="0">
                <a:solidFill>
                  <a:srgbClr val="F4F1E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matter waves</a:t>
            </a:r>
            <a:r>
              <a:rPr lang="en-US" sz="2200" dirty="0">
                <a:solidFill>
                  <a:srgbClr val="F4F1E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3 · MATTER WAVES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From light to matter in three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25"/>
            <a:ext cx="3380284" cy="2365970"/>
          </a:xfrm>
          <a:prstGeom prst="roundRect">
            <a:avLst>
              <a:gd name="adj" fmla="val 5234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39900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505621"/>
            <a:ext cx="2951912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One photon, two descriptions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3150" y="3229521"/>
            <a:ext cx="295191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E = hν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E = pc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05809" y="1882725"/>
            <a:ext cx="3380333" cy="2365970"/>
          </a:xfrm>
          <a:prstGeom prst="roundRect">
            <a:avLst>
              <a:gd name="adj" fmla="val 5234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2984" y="2139900"/>
            <a:ext cx="29519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2984" y="2505621"/>
            <a:ext cx="295196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Equate, and use c = νλ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2984" y="2943771"/>
            <a:ext cx="295196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p = hν / c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p = h / λ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92517" y="1879550"/>
            <a:ext cx="3386634" cy="2372320"/>
          </a:xfrm>
          <a:prstGeom prst="roundRect">
            <a:avLst>
              <a:gd name="adj" fmla="val 5353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46517" y="2133550"/>
            <a:ext cx="29649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4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3 · THE LEAP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46517" y="2499271"/>
            <a:ext cx="296499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4F1E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Apply it to every particle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46517" y="2937421"/>
            <a:ext cx="296499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4F1E8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λ = h / p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4F1E8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λ = h / mv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2800" y="455667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560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Watch the symbols: ν (nu) is frequency, v is velocity.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3 · MATTER WAVES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Why doesn't a cricket ball diffract?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3050"/>
          <a:ext cx="10553700" cy="1886942"/>
        </p:xfrm>
        <a:graphic>
          <a:graphicData uri="http://schemas.openxmlformats.org/drawingml/2006/table">
            <a:tbl>
              <a:tblPr/>
              <a:tblGrid>
                <a:gridCol w="2110740"/>
                <a:gridCol w="2321814"/>
                <a:gridCol w="2321814"/>
                <a:gridCol w="3799332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Object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Mass, speed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λ = h / mv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Compared with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72380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Cricket ball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0.16 kg, 42.83 m/s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≈ 1 × 10⁻³⁴ m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10²⁰ times smaller than a nucleus: invisible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80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Electron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9.11 × 10⁻³¹ kg, 10⁶ m/s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7.3 × 10⁻¹⁰ m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about the spacing of atoms: observable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185593"/>
            <a:ext cx="10883392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Wave effects show up only when λ is comparable to the size of what the wave meets.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3 · MATTER WAVES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One formula, four disguises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trick every time: </a:t>
            </a:r>
            <a:r>
              <a:rPr lang="en-US" sz="1600" b="1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p² = 2m × (kinetic energy)</a:t>
            </a:r>
            <a:r>
              <a:rPr lang="en-US" sz="16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then λ = h / 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370386"/>
            <a:ext cx="5200650" cy="1088380"/>
          </a:xfrm>
          <a:prstGeom prst="roundRect">
            <a:avLst>
              <a:gd name="adj" fmla="val 11377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2576761"/>
            <a:ext cx="482688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momentum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2896791"/>
            <a:ext cx="48268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λ = h / mv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75375" y="2370386"/>
            <a:ext cx="5200650" cy="1088380"/>
          </a:xfrm>
          <a:prstGeom prst="roundRect">
            <a:avLst>
              <a:gd name="adj" fmla="val 11377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2550" y="2576761"/>
            <a:ext cx="482688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kinetic energy 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2550" y="2896791"/>
            <a:ext cx="48268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λ = h / √(2mE)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5975" y="3617516"/>
            <a:ext cx="5200650" cy="1088380"/>
          </a:xfrm>
          <a:prstGeom prst="roundRect">
            <a:avLst>
              <a:gd name="adj" fmla="val 11377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3150" y="3823891"/>
            <a:ext cx="482688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voltage V (KE = eV)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3150" y="4143921"/>
            <a:ext cx="48268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λ = h / √(2meV)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75375" y="3617516"/>
            <a:ext cx="5200650" cy="1088380"/>
          </a:xfrm>
          <a:prstGeom prst="roundRect">
            <a:avLst>
              <a:gd name="adj" fmla="val 11377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2550" y="3823891"/>
            <a:ext cx="482688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temperature T (KE = 3/2 kT)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2550" y="4143921"/>
            <a:ext cx="48268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λ = h / √(3mkT)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3 · FOR ELECTRONS ONLY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number to remember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25"/>
            <a:ext cx="5181600" cy="2299891"/>
          </a:xfrm>
          <a:prstGeom prst="roundRect">
            <a:avLst>
              <a:gd name="adj" fmla="val 5384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362150"/>
            <a:ext cx="47026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Put h, m and e of the electron into h / √(2meV):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3950" y="2712641"/>
            <a:ext cx="470262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λ = 12.27 / √V 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23950" y="3454301"/>
            <a:ext cx="47026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 in volts · 1 Å = 10⁻¹⁰ 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3950" y="1879550"/>
            <a:ext cx="5175250" cy="2306241"/>
          </a:xfrm>
          <a:prstGeom prst="roundRect">
            <a:avLst>
              <a:gd name="adj" fmla="val 5507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6508750" y="2184350"/>
            <a:ext cx="47026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Example: V = 54 volts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08750" y="2534841"/>
            <a:ext cx="47026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4F1E8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λ = 12.27 / 7.35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08750" y="3027561"/>
            <a:ext cx="4702620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2B45A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≈ 1.67 Å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12800" y="4490591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Keep this number.</a:t>
            </a:r>
            <a:r>
              <a:rPr lang="en-US" sz="18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In Lecture 7, an experiment at exactly 54 V measures 1.65 Å.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3 · CHECK YOUR UNDERSTANDING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Three quick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1021" y="1930350"/>
            <a:ext cx="10897551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5779" indent="-275779">
              <a:lnSpc>
                <a:spcPts val="36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proton and an electron move at the same speed. Which has the longer de Broglie wavelength?</a:t>
            </a:r>
            <a:endParaRPr lang="en-US" sz="2000" dirty="0"/>
          </a:p>
          <a:p>
            <a:pPr algn="l" marL="275779" indent="-275779">
              <a:lnSpc>
                <a:spcPts val="36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 double an electron's accelerating voltage. What happens to λ?</a:t>
            </a:r>
            <a:endParaRPr lang="en-US" sz="2000" dirty="0"/>
          </a:p>
          <a:p>
            <a:pPr algn="l" marL="275779" indent="-275779">
              <a:lnSpc>
                <a:spcPts val="36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Neutrons have no charge. Why can they still be diffracted by a crystal?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84090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F2B45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06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557290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4F1E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uncertainty principle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43101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If a particle is a wave, where exactly is it?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6 · UNCERTAINTY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Sharp wavelength or sharp position: never both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31925"/>
            <a:ext cx="5175250" cy="2738090"/>
          </a:xfrm>
          <a:prstGeom prst="roundRect">
            <a:avLst>
              <a:gd name="adj" fmla="val 4522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pic>
        <p:nvPicPr>
          <p:cNvPr id="5" name="Image 0" descr="A long regular sine wave with many equal cres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089100"/>
            <a:ext cx="462280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3359100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 long, regular wave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3150" y="3760391"/>
            <a:ext cx="480072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λ is clear, so p = h/λ is known. But where is the particle? Anywhere along it.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00775" y="1831925"/>
            <a:ext cx="5175250" cy="2738090"/>
          </a:xfrm>
          <a:prstGeom prst="roundRect">
            <a:avLst>
              <a:gd name="adj" fmla="val 4522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pic>
        <p:nvPicPr>
          <p:cNvPr id="9" name="Image 1" descr="A short wave packet: a few crests in one small region, flat elsewher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7950" y="2089100"/>
            <a:ext cx="4622800" cy="1143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57950" y="3359100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 short wave packet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457950" y="3760391"/>
            <a:ext cx="480072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Position is clear. But a short burst mixes many wavelengths, so p is spread out.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12800" y="4827191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This is not a flaw in our instruments. It is built into being a wave.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6 · UNCERTAINTY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Heisenberg's uncertainty principle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50"/>
            <a:ext cx="10566400" cy="1046460"/>
          </a:xfrm>
          <a:prstGeom prst="roundRect">
            <a:avLst>
              <a:gd name="adj" fmla="val 12136"/>
            </a:avLst>
          </a:prstGeom>
          <a:solidFill>
            <a:srgbClr val="EEF2F8"/>
          </a:solidFill>
          <a:ln/>
        </p:spPr>
        <p:txBody>
          <a:bodyPr wrap="square" lIns="267603" tIns="166003" rIns="0" bIns="140603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Δx · Δp ≥ ħ/2</a:t>
            </a:r>
            <a:r>
              <a:rPr lang="en-US" sz="3600" b="1" dirty="0">
                <a:solidFill>
                  <a:srgbClr val="3D4A63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 where ħ = h/2π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3132386"/>
            <a:ext cx="5175250" cy="1442690"/>
          </a:xfrm>
          <a:prstGeom prst="roundRect">
            <a:avLst>
              <a:gd name="adj" fmla="val 8583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3389561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5BD3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Position and momentum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3150" y="3765451"/>
            <a:ext cx="480072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Squeeze Δx and Δp must grow. Halve Δx and the minimum Δp doubles.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0775" y="3132386"/>
            <a:ext cx="5175250" cy="1442690"/>
          </a:xfrm>
          <a:prstGeom prst="roundRect">
            <a:avLst>
              <a:gd name="adj" fmla="val 8583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7950" y="3389561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5BD3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Energy and time: ΔE · Δt ≥ ħ/2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57950" y="3765451"/>
            <a:ext cx="480072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state that lasts a short time has a fuzzy energy, so spectral lines have a natural width.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483225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560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Books write ≥ h, ≥ ħ or ≥ ħ/2. The exact limit is ħ/2; for quick estimates we use Δx · Δp ≈ ħ.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6 · UNCERTAINTY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Why you never notice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25"/>
            <a:ext cx="5181600" cy="2099270"/>
          </a:xfrm>
          <a:prstGeom prst="roundRect">
            <a:avLst>
              <a:gd name="adj" fmla="val 5898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190700"/>
            <a:ext cx="47026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1 g bead, located to 1 μm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3950" y="2576761"/>
            <a:ext cx="470262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Δv ≈ 10⁻²⁵ m/s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23950" y="3389561"/>
            <a:ext cx="47026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Completely unnoticeable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03950" y="1879550"/>
            <a:ext cx="5175250" cy="2105620"/>
          </a:xfrm>
          <a:prstGeom prst="roundRect">
            <a:avLst>
              <a:gd name="adj" fmla="val 6031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6508750" y="2184350"/>
            <a:ext cx="47026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electron, located to 1 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8750" y="2570411"/>
            <a:ext cx="470262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2B45A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Δv ≈ 10⁶ m/s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08750" y="3383211"/>
            <a:ext cx="47026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Over 1,000 km every second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4289971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h is tiny, so uncertainty only matters for tiny things.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6 · APPLICATION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Can an electron live inside the nucleus?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41450"/>
          <a:ext cx="10553700" cy="2063750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Step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Result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1. Confine it to the nucleus (diameter)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Δx ≈ 2 × 10⁻¹⁴ m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2. Uncertainty estimate: Δp ≈ h / (2πΔx)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Δp ≈ 5.27 × 10⁻²¹ kg m/s, so p ≈ Δp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3. Kinetic energy: K = p² / 2m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K ≈ 1.52 × 10⁻¹¹ J ≈ 96 MeV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4. Compare with β-decay electrons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only about 4 MeV observed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159200"/>
            <a:ext cx="10566400" cy="106680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Energy needed (96 MeV) is about 24× more than observed (4 MeV), so </a:t>
            </a:r>
            <a:r>
              <a:rPr lang="en-US" sz="2000" b="1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electrons cannot exist inside the nucleus.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9927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F2B4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 WHERE DO Β-DECAY ELECTRONS COME FROM?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202160"/>
            <a:ext cx="981075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F4F1E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They are created at the moment of decay.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62456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F2B45A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n → p + e⁻ + ν̄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4518620"/>
            <a:ext cx="91567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neutron turns into a proton, an electron and an antineutrino. The electron never lived inside the nucleus.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6 · CHECK YOUR UNDERSTANDING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Three quick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1021" y="1930350"/>
            <a:ext cx="10897551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5779" indent="-275779">
              <a:lnSpc>
                <a:spcPts val="36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 halve Δx. What happens to the minimum Δp?</a:t>
            </a:r>
            <a:endParaRPr lang="en-US" sz="2000" dirty="0"/>
          </a:p>
          <a:p>
            <a:pPr algn="l" marL="275779" indent="-275779">
              <a:lnSpc>
                <a:spcPts val="36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Would a perfect instrument beat the uncertainty principle? Why or why not?</a:t>
            </a:r>
            <a:endParaRPr lang="en-US" sz="2000" dirty="0"/>
          </a:p>
          <a:p>
            <a:pPr algn="l" marL="275779" indent="-275779">
              <a:lnSpc>
                <a:spcPts val="36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excited state lasts 10⁻⁸ s. Can its energy be perfectly sharp?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84090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F2B45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07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557290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4F1E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wave function and its proof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43101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What is actually waving, and how do we know electrons are waves?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7 · BORN INTERPRETATION (1926)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What is waving? Probability.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50"/>
            <a:ext cx="5791200" cy="1351260"/>
          </a:xfrm>
          <a:prstGeom prst="roundRect">
            <a:avLst>
              <a:gd name="adj" fmla="val 9399"/>
            </a:avLst>
          </a:prstGeom>
          <a:solidFill>
            <a:srgbClr val="EEF2F8"/>
          </a:solidFill>
          <a:ln/>
        </p:spPr>
        <p:txBody>
          <a:bodyPr wrap="square" lIns="216803" tIns="140603" rIns="58307" bIns="115203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probability density = |ψ|² = ψ*ψ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76808" y="3434011"/>
            <a:ext cx="5893308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ψ itself can't be measured. It may be negative or even complex.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Squaring it gives how likely the particle is to be found at each place.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Borrowed from light: intensity ∝ (amplitude)².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08800" y="1879550"/>
            <a:ext cx="4470400" cy="3078460"/>
          </a:xfrm>
          <a:prstGeom prst="roundRect">
            <a:avLst>
              <a:gd name="adj" fmla="val 4125"/>
            </a:avLst>
          </a:prstGeom>
          <a:solidFill>
            <a:srgbClr val="14213D"/>
          </a:solidFill>
          <a:ln/>
        </p:spPr>
      </p:sp>
      <p:pic>
        <p:nvPicPr>
          <p:cNvPr id="7" name="Image 0" descr="Clou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13600" y="218435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13600" y="2768550"/>
            <a:ext cx="397662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1E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Like a rain-chance map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213600" y="3169841"/>
            <a:ext cx="397662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It gives the odds at each place, not where each drop will land. |ψ|² is the electron's chance map.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7 · BORN INTERPRETATION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Probability is an area under |ψ|²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25"/>
            <a:ext cx="4984750" cy="2650480"/>
          </a:xfrm>
          <a:prstGeom prst="roundRect">
            <a:avLst>
              <a:gd name="adj" fmla="val 4672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pic>
        <p:nvPicPr>
          <p:cNvPr id="5" name="Image 0" descr="A bell-shaped curve of probability density with one thin shaded strip under i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2350" y="2089100"/>
            <a:ext cx="4572000" cy="190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350" y="4095700"/>
            <a:ext cx="47091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Blue curve: |ψ(x)|². Orange strip: width dx.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59500" y="2331641"/>
            <a:ext cx="53762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P(x to x + dx) = |ψ(x)|² dx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223508" y="2865041"/>
            <a:ext cx="5304663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High curve: likely. Zero: never.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Between a and b: the area, ∫ |ψ|² dx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At exactly one point? Zero. Always ask about an interval.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7 · PHYSICAL SIGNIFICANCE OF 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What makes ψ acceptable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31925"/>
            <a:ext cx="5200650" cy="1080740"/>
          </a:xfrm>
          <a:prstGeom prst="roundRect">
            <a:avLst>
              <a:gd name="adj" fmla="val 11457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63700"/>
            <a:ext cx="482688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5BD3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Single-valued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3150" y="2414191"/>
            <a:ext cx="48268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probability at each point in space and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5375" y="1831925"/>
            <a:ext cx="5200650" cy="1080740"/>
          </a:xfrm>
          <a:prstGeom prst="roundRect">
            <a:avLst>
              <a:gd name="adj" fmla="val 11457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063700"/>
            <a:ext cx="482688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5BD3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Continuous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32550" y="2414191"/>
            <a:ext cx="48268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sudden jumps from one place to the next.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975" y="3071416"/>
            <a:ext cx="5200650" cy="1080740"/>
          </a:xfrm>
          <a:prstGeom prst="roundRect">
            <a:avLst>
              <a:gd name="adj" fmla="val 11457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3150" y="3303191"/>
            <a:ext cx="482688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5BD3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Finite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3150" y="3653681"/>
            <a:ext cx="48268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Never infinite anywhere.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5375" y="3071416"/>
            <a:ext cx="5200650" cy="1080740"/>
          </a:xfrm>
          <a:prstGeom prst="roundRect">
            <a:avLst>
              <a:gd name="adj" fmla="val 11457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2550" y="3303191"/>
            <a:ext cx="482688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5BD3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Normalised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2550" y="3653681"/>
            <a:ext cx="48268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Total probability over all space is 1: ∭ |ψ|² dτ = 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440933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ψ is usually </a:t>
            </a:r>
            <a:r>
              <a:rPr lang="en-US" sz="15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complex</a:t>
            </a:r>
            <a:r>
              <a:rPr lang="en-US" sz="15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so it can't be measured directly. Only |ψ|² can.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7 · NORMALISATION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Choose A so the total is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31925"/>
            <a:ext cx="6064250" cy="2459930"/>
          </a:xfrm>
          <a:prstGeom prst="roundRect">
            <a:avLst>
              <a:gd name="adj" fmla="val 5034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139900"/>
            <a:ext cx="561174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Example: ψ = A sin(πx/L) for 0 &lt; x &lt; L, zero elsewhere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3950" y="2559000"/>
            <a:ext cx="5611749" cy="145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∫₀ᴸ A² sin²(πx/L) dx = 1</a:t>
            </a:r>
            <a:endParaRPr lang="en-US" sz="2200" dirty="0"/>
          </a:p>
          <a:p>
            <a:pPr algn="l" indent="0" marL="0">
              <a:lnSpc>
                <a:spcPts val="374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A² · L/2 = 1</a:t>
            </a:r>
            <a:endParaRPr lang="en-US" sz="2200" dirty="0"/>
          </a:p>
          <a:p>
            <a:pPr algn="l" indent="0" marL="0">
              <a:lnSpc>
                <a:spcPts val="37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A = √(2/L)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37400" y="1828750"/>
            <a:ext cx="4241800" cy="2466280"/>
          </a:xfrm>
          <a:prstGeom prst="roundRect">
            <a:avLst>
              <a:gd name="adj" fmla="val 5149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7442200" y="2133550"/>
            <a:ext cx="374116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45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Why ψ*ψ, not ψ²?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42200" y="2534841"/>
            <a:ext cx="374116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ψ may be complex. If ψ = a + ib,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42200" y="2938066"/>
            <a:ext cx="374116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4F1E8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ψ*ψ = a² + b²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42200" y="3456186"/>
            <a:ext cx="374116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always real and never negative.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5482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F2B4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7 · SECTION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57710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4F1E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Verification of matter waves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082230"/>
            <a:ext cx="10668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i="1" dirty="0">
                <a:solidFill>
                  <a:srgbClr val="C9D3E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de Broglie's idea was a hypothesis. Here's the experiment that proved 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3679130"/>
            <a:ext cx="10566400" cy="1524000"/>
          </a:xfrm>
          <a:prstGeom prst="roundRect">
            <a:avLst>
              <a:gd name="adj" fmla="val 8333"/>
            </a:avLst>
          </a:prstGeom>
          <a:solidFill>
            <a:srgbClr val="1F2E52"/>
          </a:solidFill>
          <a:ln/>
        </p:spPr>
      </p:sp>
      <p:sp>
        <p:nvSpPr>
          <p:cNvPr id="6" name="Text 4"/>
          <p:cNvSpPr/>
          <p:nvPr/>
        </p:nvSpPr>
        <p:spPr>
          <a:xfrm>
            <a:off x="1117600" y="4065240"/>
            <a:ext cx="29537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Recall from Lecture 3: at 54 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4390330"/>
            <a:ext cx="253531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4F1E8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λ = 12.27 / √54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48649" y="3907730"/>
            <a:ext cx="3625751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8400"/>
              </a:lnSpc>
              <a:buNone/>
            </a:pPr>
            <a:r>
              <a:rPr lang="en-US" sz="6000" b="1" dirty="0">
                <a:solidFill>
                  <a:srgbClr val="F2B45A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≈ 1.67 Å</a:t>
            </a:r>
            <a:endParaRPr lang="en-US" sz="6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7 · DAVISSON–GERMER (1927)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Firing electrons at a crystal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1125"/>
            <a:ext cx="4565650" cy="3803650"/>
          </a:xfrm>
          <a:prstGeom prst="roundRect">
            <a:avLst>
              <a:gd name="adj" fmla="val 3255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pic>
        <p:nvPicPr>
          <p:cNvPr id="5" name="Image 0" descr="Electron gun firing straight down onto a nickel crystal; a detector catches electrons scattered at 50 degrees from the incoming beam; dashed Bragg planes bisect the ang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77950"/>
            <a:ext cx="4572000" cy="381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35300" y="2108150"/>
            <a:ext cx="19621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Electron gun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35300" y="2362150"/>
            <a:ext cx="19621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 = 54 volts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908300" y="3416250"/>
            <a:ext cx="1066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560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φ = 50°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41800" y="3225750"/>
            <a:ext cx="1066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Detector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65300" y="5206950"/>
            <a:ext cx="19621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Nickel crystal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5200" y="349245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5560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Bragg planes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36779" y="2825700"/>
            <a:ext cx="5805489" cy="173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6821" indent="-206821">
              <a:lnSpc>
                <a:spcPts val="2250"/>
              </a:lnSpc>
              <a:buSzPct val="100000"/>
              <a:buFontTx/>
              <a:buAutoNum type="arabicPeriod" startAt="1"/>
            </a:pPr>
            <a:r>
              <a:rPr lang="en-US" sz="1500" b="1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Gun:</a:t>
            </a: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 heated filament gives electrons; voltage V speeds them up and sets λ.</a:t>
            </a:r>
            <a:endParaRPr lang="en-US" sz="1500" dirty="0"/>
          </a:p>
          <a:p>
            <a:pPr algn="l" marL="206821" indent="-206821">
              <a:lnSpc>
                <a:spcPts val="2250"/>
              </a:lnSpc>
              <a:buSzPct val="100000"/>
              <a:buFontTx/>
              <a:buAutoNum type="arabicPeriod" startAt="1"/>
            </a:pPr>
            <a:r>
              <a:rPr lang="en-US" sz="1500" b="1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Nickel crystal:</a:t>
            </a: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rows of atoms about 1 Å apart act as a grating.</a:t>
            </a:r>
            <a:endParaRPr lang="en-US" sz="1500" dirty="0"/>
          </a:p>
          <a:p>
            <a:pPr algn="l" marL="206821" indent="-206821">
              <a:lnSpc>
                <a:spcPts val="2250"/>
              </a:lnSpc>
              <a:buSzPct val="100000"/>
              <a:buFontTx/>
              <a:buAutoNum type="arabicPeriod" startAt="1"/>
            </a:pPr>
            <a:r>
              <a:rPr lang="en-US" sz="1500" b="1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Detector:</a:t>
            </a: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rotates to measure how many electrons come off at each angle.</a:t>
            </a:r>
            <a:endParaRPr lang="en-US" sz="1500" dirty="0"/>
          </a:p>
          <a:p>
            <a:pPr algn="l" marL="206821" indent="-206821">
              <a:lnSpc>
                <a:spcPts val="2250"/>
              </a:lnSpc>
              <a:buSzPct val="100000"/>
              <a:buFontTx/>
              <a:buAutoNum type="arabicPeriod" startAt="1"/>
            </a:pPr>
            <a:r>
              <a:rPr lang="en-US" sz="1500" b="1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Result:</a:t>
            </a: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 sharp peak at φ = 50° when V = 54 V.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4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7 · THE PUNCHLINE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1E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Measured and predicted agree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50"/>
            <a:ext cx="5181600" cy="2600920"/>
          </a:xfrm>
          <a:prstGeom prst="roundRect">
            <a:avLst>
              <a:gd name="adj" fmla="val 4883"/>
            </a:avLst>
          </a:prstGeom>
          <a:solidFill>
            <a:srgbClr val="1F2E52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33550"/>
            <a:ext cx="47091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Measured, with Bragg's law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600" y="2484041"/>
            <a:ext cx="470916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4F1E8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2d sin θ = nλ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4F1E8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d = 0.91 Å, θ = 65°, n =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3271441"/>
            <a:ext cx="4709160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2B45A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1.65 Å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6197600" y="1828750"/>
            <a:ext cx="5181600" cy="2600920"/>
          </a:xfrm>
          <a:prstGeom prst="roundRect">
            <a:avLst>
              <a:gd name="adj" fmla="val 4883"/>
            </a:avLst>
          </a:prstGeom>
          <a:solidFill>
            <a:srgbClr val="1F2E52"/>
          </a:solidFill>
          <a:ln/>
        </p:spPr>
      </p:sp>
      <p:sp>
        <p:nvSpPr>
          <p:cNvPr id="9" name="Text 7"/>
          <p:cNvSpPr/>
          <p:nvPr/>
        </p:nvSpPr>
        <p:spPr>
          <a:xfrm>
            <a:off x="6502400" y="2133550"/>
            <a:ext cx="47091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Predicted, by de Broglie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02400" y="2484041"/>
            <a:ext cx="470916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4F1E8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λ = 12.27 / √V Å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4F1E8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V = 54 V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02400" y="3271441"/>
            <a:ext cx="4709160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2B45A"/>
                </a:solidFill>
                <a:latin typeface="Noto Serif" pitchFamily="18" charset="0"/>
                <a:ea typeface="Noto Serif" pitchFamily="18" charset="-122"/>
                <a:cs typeface="Noto Serif" pitchFamily="18" charset="-120"/>
              </a:rPr>
              <a:t>1.67 Å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12800" y="468367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3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θ = 65° because θ + 50° + θ = 180°: the Bragg planes split the angle between the beams.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7 · DAVISSON–GERMER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Why a peak proves waves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31925"/>
            <a:ext cx="4476750" cy="3133080"/>
          </a:xfrm>
          <a:prstGeom prst="roundRect">
            <a:avLst>
              <a:gd name="adj" fmla="val 3952"/>
            </a:avLst>
          </a:prstGeom>
          <a:solidFill>
            <a:srgbClr val="FFFEFB"/>
          </a:solidFill>
          <a:ln w="6350">
            <a:solidFill>
              <a:srgbClr val="DCE1EA"/>
            </a:solidFill>
            <a:prstDash val="solid"/>
          </a:ln>
        </p:spPr>
      </p:sp>
      <p:pic>
        <p:nvPicPr>
          <p:cNvPr id="5" name="Image 0" descr="Graph of scattered intensity against angle at 54 volts, with a sharp peak at 50 degre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2350" y="2038300"/>
            <a:ext cx="4064000" cy="241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350" y="4527500"/>
            <a:ext cx="41859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Intensity vs angle at 54 V: peak at 50°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71820" y="2029420"/>
            <a:ext cx="5873115" cy="173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b="1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Bouncing balls</a:t>
            </a: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would give roughly the same count at every angle.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b="1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Observed:</a:t>
            </a: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 sharp peak at 50°, the fingerprint of constructive interference.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3D4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Each electron lands as one dot (particle); the dots pile up where |ψ|² is large (wave).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00700" y="3896320"/>
            <a:ext cx="5778500" cy="871141"/>
          </a:xfrm>
          <a:prstGeom prst="roundRect">
            <a:avLst>
              <a:gd name="adj" fmla="val 11663"/>
            </a:avLst>
          </a:prstGeom>
          <a:solidFill>
            <a:srgbClr val="EEF2F8"/>
          </a:solidFill>
          <a:ln/>
        </p:spPr>
        <p:txBody>
          <a:bodyPr wrap="square" lIns="173442" tIns="148042" rIns="12279" bIns="122642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J. J. Thomson (Nobel 1906): the electron is a particle. His son G. P. Thomson (Nobel 1937): it is a wave. Both were right.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LECTURE 7 · CHECK YOUR UNDERSTANDING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Three quick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1021" y="1930350"/>
            <a:ext cx="10897551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5779" indent="-275779">
              <a:lnSpc>
                <a:spcPts val="36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ψ = −0.3 at some point. Is that allowed? What is |ψ|² there?</a:t>
            </a:r>
            <a:endParaRPr lang="en-US" sz="2000" dirty="0"/>
          </a:p>
          <a:p>
            <a:pPr algn="l" marL="275779" indent="-275779">
              <a:lnSpc>
                <a:spcPts val="36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Why must every wave function be normalised?</a:t>
            </a:r>
            <a:endParaRPr lang="en-US" sz="2000" dirty="0"/>
          </a:p>
          <a:p>
            <a:pPr algn="l" marL="275779" indent="-275779">
              <a:lnSpc>
                <a:spcPts val="36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 Davisson–Germer, what happens to the 50° peak if V changes?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Unit 3 on one slide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2250"/>
          <a:ext cx="10553700" cy="1757363"/>
        </p:xfrm>
        <a:graphic>
          <a:graphicData uri="http://schemas.openxmlformats.org/drawingml/2006/table">
            <a:tbl>
              <a:tblPr/>
              <a:tblGrid>
                <a:gridCol w="1688592"/>
                <a:gridCol w="4643628"/>
                <a:gridCol w="4221480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Lecture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Big idea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Key formula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Every moving particle has a wave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λ = h / p = h / √(2mE)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6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 spread-out wave can't have sharp x and p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Δx · Δp ≥ ħ/2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7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|ψ|² is probability, and electrons diffract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∭ |ψ|² dτ = 1; 1.65 Å ≈ 1.67 Å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954413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Particles travel like waves and arrive like particles.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um Unit 3: Student Slides">
  <a:themeElements>
    <a:clrScheme name="Quantum Unit 3: Student Slides">
      <a:dk1>
        <a:srgbClr val="14213D"/>
      </a:dk1>
      <a:lt1>
        <a:srgbClr val="FBFAF6"/>
      </a:lt1>
      <a:dk2>
        <a:srgbClr val="4E576B"/>
      </a:dk2>
      <a:lt2>
        <a:srgbClr val="E4E4E4"/>
      </a:lt2>
      <a:accent1>
        <a:srgbClr val="2F5BD3"/>
      </a:accent1>
      <a:accent2>
        <a:srgbClr val="F2B45A"/>
      </a:accent2>
      <a:accent3>
        <a:srgbClr val="B5560B"/>
      </a:accent3>
      <a:accent4>
        <a:srgbClr val="3D4A63"/>
      </a:accent4>
      <a:accent5>
        <a:srgbClr val="C9D3E6"/>
      </a:accent5>
      <a:accent6>
        <a:srgbClr val="9AA0A6"/>
      </a:accent6>
      <a:hlink>
        <a:srgbClr val="0563C1"/>
      </a:hlink>
      <a:folHlink>
        <a:srgbClr val="954F72"/>
      </a:folHlink>
    </a:clrScheme>
    <a:fontScheme name="Quantum Unit 3: Student Slides">
      <a:majorFont>
        <a:latin typeface="Dom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Unit 3: Student Slides</dc:title>
  <dc:subject/>
  <dc:creator/>
  <cp:lastModifiedBy/>
  <cp:revision>1</cp:revision>
  <dcterms:created xsi:type="dcterms:W3CDTF">2026-10-13T20:07:26Z</dcterms:created>
  <dcterms:modified xsi:type="dcterms:W3CDTF">2026-10-13T20:07:26Z</dcterms:modified>
</cp:coreProperties>
</file>